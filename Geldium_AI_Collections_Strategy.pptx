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62" r:id="rId7"/>
    <p:sldId id="259" r:id="rId4"/>
    <p:sldId id="260" r:id="rId5"/>
    <p:sldId id="261" r:id="rId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9"/>
      <p:bold r:id="rId10"/>
      <p:italic r:id="rId11"/>
      <p:boldItalic r:id="rId12"/>
    </p:embeddedFont>
    <p:embeddedFont>
      <p:font typeface="Roboto Slab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E584E98-F22C-4E6F-8C55-6CFEC2229C57}">
  <a:tblStyle styleId="{2E584E98-F22C-4E6F-8C55-6CFEC2229C5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408"/>
  </p:normalViewPr>
  <p:slideViewPr>
    <p:cSldViewPr snapToGrid="0">
      <p:cViewPr varScale="1">
        <p:scale>
          <a:sx n="132" d="100"/>
          <a:sy n="132" d="100"/>
        </p:scale>
        <p:origin x="94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516fb96b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516fb96b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Generate a simple outline for an AI collections system workflow, including inputs, decision logic, action triggers, and learning loop.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key customer attributes that would be most predictive for collections decision-making, and explain why each one matters.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examples of business rules and AI-driven actions the system could use at different risk levels (e.g., low, medium, high risk).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Create a rough sketch or step-by-step description of how customer data flows through the system from intake to action.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516fb96bfd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516fb96bfd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Explain how agentic AI could automate financial collections while keeping humans in critical decision points.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examples of collection actions, and classify each as best suited for full automation or requiring human oversight, with a brief reason why.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516fb96bf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516fb96bf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key fairness, transparency, and compliance practices to build into an AI-powered credit collections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specific ways to monitor and audit the system over time to ensure it stays fair, compliant, and effective.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516fb96bfd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516fb96bfd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KPIs for an AI-powered collections strategy that balances business outcomes with customer fairness.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Describe 2–3 ways an AI collections system could improve both operational efficiency and customer experience.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/>
              <a:t>AI-Powered Collections Strategy</a:t>
            </a:r>
            <a:endParaRPr sz="3000" dirty="0"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Leveraging Agentic AI for Scalable, Fair, and Effective Debt Management at Geldium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System Workflow: Inputs &amp; Decision Logic</a:t>
            </a:r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387900" y="1480000"/>
            <a:ext cx="4059100" cy="34335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07900" y="1680000"/>
            <a:ext cx="400000" cy="40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004065"/>
                </a:solidFill>
                <a:latin typeface="Calibr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7900" y="1690000"/>
            <a:ext cx="31591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7900" y="2200000"/>
            <a:ext cx="3559100" cy="258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Live feed from the Task 2 predictive model: risk probability + Low / Moderate / High tier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Underlying signals: Missed_Payments, Credit_Utilization, Credit_Score, Debt-to-Income Ratio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Refreshed continuously as new payment and account activity arrives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Account context: tenure, employment status, prior outreach / hardship history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97000" y="1480000"/>
            <a:ext cx="4059100" cy="34335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917000" y="1680000"/>
            <a:ext cx="400000" cy="40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004065"/>
                </a:solidFill>
                <a:latin typeface="Calibr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97000" y="1690000"/>
            <a:ext cx="31591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Decision Logic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47000" y="2200000"/>
            <a:ext cx="3559100" cy="258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Combines the model's risk tier with business rules (contact-frequency caps, active hardship-plan status)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Applies the calibrated decision threshold from the Model Plan to convert probability into an action tier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Moderate/High-risk and borderline cases are routed for review rather than auto-resolved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Rules + model work together – not model output alone – to pick the next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Role of Agentic AI</a:t>
            </a:r>
            <a:endParaRPr/>
          </a:p>
        </p:txBody>
      </p:sp>
      <p:graphicFrame>
        <p:nvGraphicFramePr>
          <p:cNvPr id="82" name="Table 81"/>
          <p:cNvGraphicFramePr>
            <a:graphicFrameLocks noGrp="1"/>
          </p:cNvGraphicFramePr>
          <p:nvPr/>
        </p:nvGraphicFramePr>
        <p:xfrm>
          <a:off x="387900" y="1550000"/>
          <a:ext cx="8368200" cy="31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84100"/>
                <a:gridCol w="41841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4065"/>
                          </a:solidFill>
                          <a:latin typeface="Calibri"/>
                        </a:rPr>
                        <a:t>Autonomous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4065"/>
                          </a:solidFill>
                          <a:latin typeface="Calibri"/>
                        </a:rPr>
                        <a:t>Human Oversight</a:t>
                      </a:r>
                    </a:p>
                  </a:txBody>
                  <a:tcPr anchor="ctr">
                    <a:solidFill>
                      <a:srgbClr val="FFEB38"/>
                    </a:solidFill>
                  </a:tcPr>
                </a:tc>
              </a:tr>
              <a:tr h="620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Send automated payment reminders (SMS/email) to Low–Moderate risk accounts</a:t>
                      </a:r>
                    </a:p>
                  </a:txBody>
                  <a:tcPr anchor="ctr" marL="120000" marR="120000">
                    <a:solidFill>
                      <a:srgbClr val="00517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Approve hardship or debt-management plan offers</a:t>
                      </a:r>
                    </a:p>
                  </a:txBody>
                  <a:tcPr anchor="ctr" marL="120000" marR="120000">
                    <a:solidFill>
                      <a:srgbClr val="00517C"/>
                    </a:solidFill>
                  </a:tcPr>
                </a:tc>
              </a:tr>
              <a:tr h="620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Choose contact channel and timing based on past customer engagement</a:t>
                      </a:r>
                    </a:p>
                  </a:txBody>
                  <a:tcPr anchor="ctr" marL="120000" marR="120000">
                    <a:solidFill>
                      <a:srgbClr val="0040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Review High-risk and borderline / near-threshold cases</a:t>
                      </a:r>
                    </a:p>
                  </a:txBody>
                  <a:tcPr anchor="ctr" marL="120000" marR="120000">
                    <a:solidFill>
                      <a:srgbClr val="004065"/>
                    </a:solidFill>
                  </a:tcPr>
                </a:tc>
              </a:tr>
              <a:tr h="620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Adjust outreach cadence based on repayment response</a:t>
                      </a:r>
                    </a:p>
                  </a:txBody>
                  <a:tcPr anchor="ctr" marL="120000" marR="120000">
                    <a:solidFill>
                      <a:srgbClr val="00517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Handle customer disputes or appeals</a:t>
                      </a:r>
                    </a:p>
                  </a:txBody>
                  <a:tcPr anchor="ctr" marL="120000" marR="120000">
                    <a:solidFill>
                      <a:srgbClr val="00517C"/>
                    </a:solidFill>
                  </a:tcPr>
                </a:tc>
              </a:tr>
              <a:tr h="620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Flag accounts that cross a risk threshold for the next workflow step</a:t>
                      </a:r>
                    </a:p>
                  </a:txBody>
                  <a:tcPr anchor="ctr" marL="120000" marR="120000">
                    <a:solidFill>
                      <a:srgbClr val="0040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Approve actions with regulatory impact (credit-limit or account-status changes)</a:t>
                      </a:r>
                    </a:p>
                  </a:txBody>
                  <a:tcPr anchor="ctr" marL="120000" marR="120000">
                    <a:solidFill>
                      <a:srgbClr val="00406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Responsible AI Guardrails</a:t>
            </a:r>
            <a:endParaRPr/>
          </a:p>
        </p:txBody>
      </p:sp>
      <p:sp>
        <p:nvSpPr>
          <p:cNvPr id="89" name="Oval 88"/>
          <p:cNvSpPr/>
          <p:nvPr/>
        </p:nvSpPr>
        <p:spPr>
          <a:xfrm>
            <a:off x="387900" y="1560000"/>
            <a:ext cx="560000" cy="56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004065"/>
                </a:solidFill>
                <a:latin typeface="Calibr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7900" y="1500000"/>
            <a:ext cx="7618200" cy="7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EB38"/>
                </a:solidFill>
                <a:latin typeface="Calibri"/>
              </a:rPr>
              <a:t>Explainability  –  </a:t>
            </a:r>
            <a:r>
              <a:rPr sz="1350" b="0">
                <a:solidFill>
                  <a:srgbClr val="FFFFFF"/>
                </a:solidFill>
                <a:latin typeface="Calibri"/>
              </a:rPr>
              <a:t>Every automated flag carries a SHAP-based reason code (e.g., “high utilization + 3 missed payments”) so any action can be explained to a customer or regulator in plain language.</a:t>
            </a:r>
          </a:p>
        </p:txBody>
      </p:sp>
      <p:sp>
        <p:nvSpPr>
          <p:cNvPr id="91" name="Oval 90"/>
          <p:cNvSpPr/>
          <p:nvPr/>
        </p:nvSpPr>
        <p:spPr>
          <a:xfrm>
            <a:off x="387900" y="2400000"/>
            <a:ext cx="560000" cy="56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004065"/>
                </a:solidFill>
                <a:latin typeface="Calibr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37900" y="2340000"/>
            <a:ext cx="7618200" cy="7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EB38"/>
                </a:solidFill>
                <a:latin typeface="Calibri"/>
              </a:rPr>
              <a:t>Bias monitoring  –  </a:t>
            </a:r>
            <a:r>
              <a:rPr sz="1350" b="0">
                <a:solidFill>
                  <a:srgbClr val="FFFFFF"/>
                </a:solidFill>
                <a:latin typeface="Calibri"/>
              </a:rPr>
              <a:t>The Fairness Audit from the Model Plan re-runs on a regular cadence, comparing outcomes across Location, Employment_Status, Age, and Card_Type, with alerts on disparities.</a:t>
            </a:r>
          </a:p>
        </p:txBody>
      </p:sp>
      <p:sp>
        <p:nvSpPr>
          <p:cNvPr id="93" name="Oval 92"/>
          <p:cNvSpPr/>
          <p:nvPr/>
        </p:nvSpPr>
        <p:spPr>
          <a:xfrm>
            <a:off x="387900" y="3240000"/>
            <a:ext cx="560000" cy="56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004065"/>
                </a:solidFill>
                <a:latin typeface="Calibri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7900" y="3180000"/>
            <a:ext cx="7618200" cy="7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EB38"/>
                </a:solidFill>
                <a:latin typeface="Calibri"/>
              </a:rPr>
              <a:t>Human-in-the-loop  –  </a:t>
            </a:r>
            <a:r>
              <a:rPr sz="1350" b="0">
                <a:solidFill>
                  <a:srgbClr val="FFFFFF"/>
                </a:solidFill>
                <a:latin typeface="Calibri"/>
              </a:rPr>
              <a:t>Hardship offers, credit-limit changes, and High-risk cases always route to a Collections agent for review – never fully automated.</a:t>
            </a:r>
          </a:p>
        </p:txBody>
      </p:sp>
      <p:sp>
        <p:nvSpPr>
          <p:cNvPr id="95" name="Oval 94"/>
          <p:cNvSpPr/>
          <p:nvPr/>
        </p:nvSpPr>
        <p:spPr>
          <a:xfrm>
            <a:off x="387900" y="4080000"/>
            <a:ext cx="560000" cy="560000"/>
          </a:xfrm>
          <a:prstGeom prst="ellipse">
            <a:avLst/>
          </a:prstGeom>
          <a:solidFill>
            <a:srgbClr val="FFE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004065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37900" y="4020000"/>
            <a:ext cx="7618200" cy="7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EB38"/>
                </a:solidFill>
                <a:latin typeface="Calibri"/>
              </a:rPr>
              <a:t>Compliance &amp; audit trail  –  </a:t>
            </a:r>
            <a:r>
              <a:rPr sz="1350" b="0">
                <a:solidFill>
                  <a:srgbClr val="FFFFFF"/>
                </a:solidFill>
                <a:latin typeface="Calibri"/>
              </a:rPr>
              <a:t>Every decision (inputs, model score, action taken) is logged for regulatory review, and customers can appeal or request human review of any outcome.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Expected Business Impact</a:t>
            </a:r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7900" y="1550000"/>
            <a:ext cx="4059100" cy="31500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900" y="1750000"/>
            <a:ext cx="35591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BC34A"/>
                </a:solidFill>
                <a:latin typeface="Calibri"/>
              </a:rPr>
              <a:t>Business KPIs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900" y="2250000"/>
            <a:ext cx="35591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10–15% relative reduction in 30/60/90-day delinquency (pilot target)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Lower cost-per-collection vs. manual case handling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Higher hardship-plan enrollment before accounts default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Faster time-to-outreach via real-time flagging vs. periodic manual review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697000" y="1550000"/>
            <a:ext cx="4059100" cy="31500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47000" y="1750000"/>
            <a:ext cx="35591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EB38"/>
                </a:solidFill>
                <a:latin typeface="Calibri"/>
              </a:rPr>
              <a:t>Customer Outcomes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47000" y="2250000"/>
            <a:ext cx="35591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Earlier, supportive contact instead of late-stage collections pressure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Consistent, explainable treatment across customer segments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Clear channel to appeal or request a human review</a:t>
            </a:r>
          </a:p>
          <a:p>
            <a:pPr algn="l"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Calibri"/>
              </a:rPr>
              <a:t>Scalable support that reaches the full portfolio, not just manually reviewed accounts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1373-ECCB-8893-C88B-952E49559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Workflow: Actions &amp;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7900" y="1450000"/>
            <a:ext cx="1650000" cy="750000"/>
          </a:xfrm>
          <a:prstGeom prst="roundRect">
            <a:avLst>
              <a:gd name="adj" fmla="val 6000"/>
            </a:avLst>
          </a:prstGeom>
          <a:solidFill>
            <a:srgbClr val="027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7900" y="1450000"/>
            <a:ext cx="165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Customer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7900" y="1450000"/>
            <a:ext cx="5894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FEB38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27300" y="1450000"/>
            <a:ext cx="1650000" cy="750000"/>
          </a:xfrm>
          <a:prstGeom prst="roundRect">
            <a:avLst>
              <a:gd name="adj" fmla="val 6000"/>
            </a:avLst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7300" y="1450000"/>
            <a:ext cx="165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Decision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7300" y="1450000"/>
            <a:ext cx="5894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FEB38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66700" y="1450000"/>
            <a:ext cx="1650000" cy="750000"/>
          </a:xfrm>
          <a:prstGeom prst="roundRect">
            <a:avLst>
              <a:gd name="adj" fmla="val 6000"/>
            </a:avLst>
          </a:prstGeom>
          <a:solidFill>
            <a:srgbClr val="558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6700" y="1450000"/>
            <a:ext cx="165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6700" y="1450000"/>
            <a:ext cx="5894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FEB38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6100" y="1450000"/>
            <a:ext cx="1650000" cy="750000"/>
          </a:xfrm>
          <a:prstGeom prst="roundRect">
            <a:avLst>
              <a:gd name="adj" fmla="val 6000"/>
            </a:avLst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06100" y="1450000"/>
            <a:ext cx="165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Learning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7900" y="2450000"/>
            <a:ext cx="4059100" cy="23935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00" y="2620000"/>
            <a:ext cx="35591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EB38"/>
                </a:solidFill>
                <a:latin typeface="Calibri"/>
              </a:rPr>
              <a:t>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00" y="3070000"/>
            <a:ext cx="3559100" cy="161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Automated SMS / email payment reminders for Low–Moderate risk accounts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Offer of a short-term hardship or debt-management plan for High-risk accounts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Escalation to a Collections agent for review and approval when required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7000" y="2450000"/>
            <a:ext cx="4059100" cy="2393500"/>
          </a:xfrm>
          <a:prstGeom prst="roundRect">
            <a:avLst>
              <a:gd name="adj" fmla="val 6000"/>
            </a:avLst>
          </a:prstGeom>
          <a:solidFill>
            <a:srgbClr val="0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7000" y="2620000"/>
            <a:ext cx="35591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EB38"/>
                </a:solidFill>
                <a:latin typeface="Calibri"/>
              </a:rPr>
              <a:t>Learning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7000" y="3070000"/>
            <a:ext cx="3559100" cy="161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Tracks repayment rate, customer engagement, and cost of collections per action taken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Feeds outcomes back to refine model thresholds and business rules over time</a:t>
            </a:r>
          </a:p>
          <a:p>
            <a:pPr algn="l"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Re-audited on a regular cadence for accuracy and fairness (see Guardrails)</a:t>
            </a:r>
          </a:p>
        </p:txBody>
      </p:sp>
    </p:spTree>
    <p:extLst>
      <p:ext uri="{BB962C8B-B14F-4D97-AF65-F5344CB8AC3E}">
        <p14:creationId xmlns:p14="http://schemas.microsoft.com/office/powerpoint/2010/main" val="890219242"/>
      </p:ext>
    </p:extLst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473</Words>
  <Application>Microsoft Macintosh PowerPoint</Application>
  <PresentationFormat>On-screen Show (16:9)</PresentationFormat>
  <Paragraphs>36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Roboto Slab</vt:lpstr>
      <vt:lpstr>Roboto</vt:lpstr>
      <vt:lpstr>Marina</vt:lpstr>
      <vt:lpstr>AI-Powered Collections Strategy</vt:lpstr>
      <vt:lpstr>How the System Works</vt:lpstr>
      <vt:lpstr>Role of Agentic AI</vt:lpstr>
      <vt:lpstr>Responsible AI Guardrails</vt:lpstr>
      <vt:lpstr>Expected Business Impact</vt:lpstr>
      <vt:lpstr>[Feel free to add more slides throughout]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Tran, Tammy</cp:lastModifiedBy>
  <cp:revision>2</cp:revision>
  <dcterms:modified xsi:type="dcterms:W3CDTF">2025-04-29T13:27:36Z</dcterms:modified>
</cp:coreProperties>
</file>