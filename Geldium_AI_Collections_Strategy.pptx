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Roboto Slab"/>
      <p:regular r:id="rId13"/>
      <p:bold r:id="rId14"/>
    </p:embeddedFon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D813EE6-147C-4EA9-BC54-21C19C3F3593}">
  <a:tblStyle styleId="{6D813EE6-147C-4EA9-BC54-21C19C3F3593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4"/>
          </a:solidFill>
        </a:fill>
      </a:tcStyle>
    </a:wholeTbl>
    <a:band1H>
      <a:tcTxStyle/>
      <a:tcStyle>
        <a:fill>
          <a:solidFill>
            <a:srgbClr val="CAD5E7"/>
          </a:solidFill>
        </a:fill>
      </a:tcStyle>
    </a:band1H>
    <a:band2H>
      <a:tcTxStyle/>
    </a:band2H>
    <a:band1V>
      <a:tcTxStyle/>
      <a:tcStyle>
        <a:fill>
          <a:solidFill>
            <a:srgbClr val="CAD5E7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RobotoSlab-regular.fnt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-regular.fntdata"/><Relationship Id="rId14" Type="http://schemas.openxmlformats.org/officeDocument/2006/relationships/font" Target="fonts/RobotoSlab-bold.fntdata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/>
              <a:t>Prompts to try: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/>
              <a:t>Generate a simple outline for an AI collections system workflow, including inputs, decision logic, action triggers, and learning loop.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/>
              <a:t>List 3–5 key customer attributes that would be most predictive for collections decision-making, and explain why each one matters.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/>
              <a:t>Suggest examples of business rules and AI-driven actions the system could use at different risk levels (e.g., low, medium, high risk).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/>
              <a:t>Create a rough sketch or step-by-step description of how customer data flows through the system from intake to action.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/>
              <a:t>Prompts to try: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/>
              <a:t>Explain how agentic AI could automate financial collections while keeping humans in critical decision points.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/>
              <a:t>List 3–5 examples of collection actions, and classify each as best suited for full automation or requiring human oversight, with a brief reason why.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/>
              <a:t>Prompts to try: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/>
              <a:t>List key fairness, transparency, and compliance practices to build into an AI-powered credit collections system.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/>
              <a:t>Suggest specific ways to monitor and audit the system over time to ensure it stays fair, compliant, and effective.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/>
              <a:t>Prompts to try: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/>
              <a:t>Suggest KPIs for an AI-powered collections strategy that balances business outcomes with customer fairness.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/>
              <a:t>Describe 2–3 ways an AI collections system could improve both operational efficiency and customer experience.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lang="en-US" sz="3000"/>
              <a:t>AI-Powered Collections Strategy</a:t>
            </a:r>
            <a:endParaRPr sz="3000"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-US"/>
              <a:t>Leveraging Agentic AI for Scalable, Fair, and Effective Debt Management at Geldium</a:t>
            </a:r>
            <a:endParaRPr/>
          </a:p>
        </p:txBody>
      </p:sp>
      <p:sp>
        <p:nvSpPr>
          <p:cNvPr id="65" name="Google Shape;65;p13"/>
          <p:cNvSpPr txBox="1"/>
          <p:nvPr/>
        </p:nvSpPr>
        <p:spPr>
          <a:xfrm>
            <a:off x="1920000" y="3818475"/>
            <a:ext cx="530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Proposed Future-State Framework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System Workflow: Inputs &amp; Decision Logic</a:t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387900" y="1480000"/>
            <a:ext cx="4059100" cy="3433500"/>
          </a:xfrm>
          <a:prstGeom prst="roundRect">
            <a:avLst>
              <a:gd fmla="val 6000" name="adj"/>
            </a:avLst>
          </a:prstGeom>
          <a:solidFill>
            <a:srgbClr val="0051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607900" y="1680000"/>
            <a:ext cx="400000" cy="400000"/>
          </a:xfrm>
          <a:prstGeom prst="ellipse">
            <a:avLst/>
          </a:prstGeom>
          <a:solidFill>
            <a:srgbClr val="FFEB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406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3" name="Google Shape;73;p14"/>
          <p:cNvSpPr txBox="1"/>
          <p:nvPr/>
        </p:nvSpPr>
        <p:spPr>
          <a:xfrm>
            <a:off x="1087900" y="1690000"/>
            <a:ext cx="31591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Inputs</a:t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637900" y="2200000"/>
            <a:ext cx="3559200" cy="18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Proposed feed from the validated predictive model: risk probability + Low / Moderate / High tier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Underlying signals: Missed_Payments, Credit_Utilization, Credit_Score, Debt-to-Income Ratio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Designed to refresh as new payment and account activity becomes available, subject to model validation.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Account context: tenure, employment status, prior outreach / hardship history</a:t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4697000" y="1480000"/>
            <a:ext cx="4059100" cy="3433500"/>
          </a:xfrm>
          <a:prstGeom prst="roundRect">
            <a:avLst>
              <a:gd fmla="val 6000" name="adj"/>
            </a:avLst>
          </a:prstGeom>
          <a:solidFill>
            <a:srgbClr val="0051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4917000" y="1680000"/>
            <a:ext cx="400000" cy="400000"/>
          </a:xfrm>
          <a:prstGeom prst="ellipse">
            <a:avLst/>
          </a:prstGeom>
          <a:solidFill>
            <a:srgbClr val="FFEB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406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5397000" y="1690000"/>
            <a:ext cx="31591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Decision Logic</a:t>
            </a:r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4947000" y="2200000"/>
            <a:ext cx="35592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Combines the model's risk tier with business rules (contact-frequency caps, active hardship-plan status)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Applies the optimized classification threshold selected during model evaluation to convert predicted probability into an action tier.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Moderate/High-risk and borderline cases are routed for review rather than auto-resolved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Rules + model work together – not model output alone – to pick the next step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System Workflow: Actions &amp; Learning</a:t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387900" y="1450000"/>
            <a:ext cx="1650000" cy="750000"/>
          </a:xfrm>
          <a:prstGeom prst="roundRect">
            <a:avLst>
              <a:gd fmla="val 6000" name="adj"/>
            </a:avLst>
          </a:prstGeom>
          <a:solidFill>
            <a:srgbClr val="0277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387900" y="1450000"/>
            <a:ext cx="16500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 Data</a:t>
            </a:r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2037900" y="1450000"/>
            <a:ext cx="5894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EB3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2627300" y="1450000"/>
            <a:ext cx="1650000" cy="750000"/>
          </a:xfrm>
          <a:prstGeom prst="roundRect">
            <a:avLst>
              <a:gd fmla="val 6000" name="adj"/>
            </a:avLst>
          </a:prstGeom>
          <a:solidFill>
            <a:srgbClr val="0096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2627300" y="1450000"/>
            <a:ext cx="16500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Decision Engine</a:t>
            </a:r>
            <a:endParaRPr/>
          </a:p>
        </p:txBody>
      </p:sp>
      <p:sp>
        <p:nvSpPr>
          <p:cNvPr id="89" name="Google Shape;89;p15"/>
          <p:cNvSpPr txBox="1"/>
          <p:nvPr/>
        </p:nvSpPr>
        <p:spPr>
          <a:xfrm>
            <a:off x="4277300" y="1450000"/>
            <a:ext cx="5894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EB3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90" name="Google Shape;90;p15"/>
          <p:cNvSpPr/>
          <p:nvPr/>
        </p:nvSpPr>
        <p:spPr>
          <a:xfrm>
            <a:off x="4866700" y="1450000"/>
            <a:ext cx="1650000" cy="750000"/>
          </a:xfrm>
          <a:prstGeom prst="roundRect">
            <a:avLst>
              <a:gd fmla="val 6000" name="adj"/>
            </a:avLst>
          </a:prstGeom>
          <a:solidFill>
            <a:srgbClr val="558B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4866700" y="1450000"/>
            <a:ext cx="16500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Action</a:t>
            </a:r>
            <a:endParaRPr/>
          </a:p>
        </p:txBody>
      </p:sp>
      <p:sp>
        <p:nvSpPr>
          <p:cNvPr id="92" name="Google Shape;92;p15"/>
          <p:cNvSpPr txBox="1"/>
          <p:nvPr/>
        </p:nvSpPr>
        <p:spPr>
          <a:xfrm>
            <a:off x="6516700" y="1450000"/>
            <a:ext cx="5894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EB3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7106100" y="1450000"/>
            <a:ext cx="1650000" cy="750000"/>
          </a:xfrm>
          <a:prstGeom prst="roundRect">
            <a:avLst>
              <a:gd fmla="val 6000" name="adj"/>
            </a:avLst>
          </a:prstGeom>
          <a:solidFill>
            <a:srgbClr val="039B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7106100" y="1450000"/>
            <a:ext cx="16500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Learning Loop</a:t>
            </a:r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387900" y="2450000"/>
            <a:ext cx="4059100" cy="2393500"/>
          </a:xfrm>
          <a:prstGeom prst="roundRect">
            <a:avLst>
              <a:gd fmla="val 6000" name="adj"/>
            </a:avLst>
          </a:prstGeom>
          <a:solidFill>
            <a:srgbClr val="0051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637900" y="2620000"/>
            <a:ext cx="35591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EB38"/>
                </a:solidFill>
                <a:latin typeface="Calibri"/>
                <a:ea typeface="Calibri"/>
                <a:cs typeface="Calibri"/>
                <a:sym typeface="Calibri"/>
              </a:rPr>
              <a:t>Actions</a:t>
            </a:r>
            <a:endParaRPr/>
          </a:p>
        </p:txBody>
      </p:sp>
      <p:sp>
        <p:nvSpPr>
          <p:cNvPr id="97" name="Google Shape;97;p15"/>
          <p:cNvSpPr txBox="1"/>
          <p:nvPr/>
        </p:nvSpPr>
        <p:spPr>
          <a:xfrm>
            <a:off x="637900" y="3070000"/>
            <a:ext cx="3559200" cy="1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Automated SMS / email payment reminders for Low–Moderate risk accounts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Recommend a short-term hardship or debt-management plan for High-risk accounts, subject to Collections-agent approval.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Escalation to a Collections agent for review and approval when required</a:t>
            </a:r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4697000" y="2450000"/>
            <a:ext cx="4059100" cy="2393500"/>
          </a:xfrm>
          <a:prstGeom prst="roundRect">
            <a:avLst>
              <a:gd fmla="val 6000" name="adj"/>
            </a:avLst>
          </a:prstGeom>
          <a:solidFill>
            <a:srgbClr val="0051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4947000" y="2620000"/>
            <a:ext cx="35591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EB38"/>
                </a:solidFill>
                <a:latin typeface="Calibri"/>
                <a:ea typeface="Calibri"/>
                <a:cs typeface="Calibri"/>
                <a:sym typeface="Calibri"/>
              </a:rPr>
              <a:t>Learning Loop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4947000" y="3070000"/>
            <a:ext cx="3559200" cy="1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Tracks repayment rate, customer engagement, and cost of collections per action taken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Feeds observed outcomes back into future threshold and business-rule reviews, subject to validation, fairness checks, and human oversight.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Re-audited on a regular cadence for accuracy and fairness (see Guardrails)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Role of Agentic AI</a:t>
            </a:r>
            <a:endParaRPr/>
          </a:p>
        </p:txBody>
      </p:sp>
      <p:graphicFrame>
        <p:nvGraphicFramePr>
          <p:cNvPr id="106" name="Google Shape;106;p16"/>
          <p:cNvGraphicFramePr/>
          <p:nvPr/>
        </p:nvGraphicFramePr>
        <p:xfrm>
          <a:off x="387900" y="155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{6D813EE6-147C-4EA9-BC54-21C19C3F3593}</a:tableStyleId>
              </a:tblPr>
              <a:tblGrid>
                <a:gridCol w="4184100"/>
                <a:gridCol w="4184100"/>
              </a:tblGrid>
              <a:tr h="62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40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Autonomous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8BC3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40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Human Oversight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EB38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Send automated payment reminders (SMS/email) to Low–Moderate risk accounts</a:t>
                      </a:r>
                      <a:endParaRPr/>
                    </a:p>
                  </a:txBody>
                  <a:tcPr marT="45725" marB="45725" marR="120000" marL="120000" anchor="ctr">
                    <a:solidFill>
                      <a:srgbClr val="00517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Approve hardship or debt-management plan offers</a:t>
                      </a:r>
                      <a:endParaRPr/>
                    </a:p>
                  </a:txBody>
                  <a:tcPr marT="45725" marB="45725" marR="120000" marL="120000" anchor="ctr">
                    <a:solidFill>
                      <a:srgbClr val="00517C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Choose contact channel and timing based on past customer engagement</a:t>
                      </a:r>
                      <a:endParaRPr/>
                    </a:p>
                  </a:txBody>
                  <a:tcPr marT="45725" marB="45725" marR="120000" marL="120000" anchor="ctr">
                    <a:solidFill>
                      <a:srgbClr val="00406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Review High-risk and borderline / near-threshold cases</a:t>
                      </a:r>
                      <a:endParaRPr/>
                    </a:p>
                  </a:txBody>
                  <a:tcPr marT="45725" marB="45725" marR="120000" marL="120000" anchor="ctr">
                    <a:solidFill>
                      <a:srgbClr val="004065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Adjust outreach cadence based on repayment response</a:t>
                      </a:r>
                      <a:endParaRPr/>
                    </a:p>
                  </a:txBody>
                  <a:tcPr marT="45725" marB="45725" marR="120000" marL="120000" anchor="ctr">
                    <a:solidFill>
                      <a:srgbClr val="00517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Handle customer disputes or appeals</a:t>
                      </a:r>
                      <a:endParaRPr/>
                    </a:p>
                  </a:txBody>
                  <a:tcPr marT="45725" marB="45725" marR="120000" marL="120000" anchor="ctr">
                    <a:solidFill>
                      <a:srgbClr val="00517C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Flag accounts that cross a risk threshold for the next workflow step</a:t>
                      </a:r>
                      <a:endParaRPr/>
                    </a:p>
                  </a:txBody>
                  <a:tcPr marT="45725" marB="45725" marR="120000" marL="120000" anchor="ctr">
                    <a:solidFill>
                      <a:srgbClr val="00406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Approve actions with regulatory impact (credit-limit or account-status changes)</a:t>
                      </a:r>
                      <a:endParaRPr/>
                    </a:p>
                  </a:txBody>
                  <a:tcPr marT="45725" marB="45725" marR="120000" marL="120000" anchor="ctr">
                    <a:solidFill>
                      <a:srgbClr val="00406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Responsible AI Guardrails</a:t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387900" y="1560000"/>
            <a:ext cx="560000" cy="560000"/>
          </a:xfrm>
          <a:prstGeom prst="ellipse">
            <a:avLst/>
          </a:prstGeom>
          <a:solidFill>
            <a:srgbClr val="FFEB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406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3" name="Google Shape;113;p17"/>
          <p:cNvSpPr txBox="1"/>
          <p:nvPr/>
        </p:nvSpPr>
        <p:spPr>
          <a:xfrm>
            <a:off x="1137900" y="1500000"/>
            <a:ext cx="76182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1500">
                <a:solidFill>
                  <a:srgbClr val="FFEB3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FFEB38"/>
                </a:solidFill>
                <a:latin typeface="Calibri"/>
                <a:ea typeface="Calibri"/>
                <a:cs typeface="Calibri"/>
                <a:sym typeface="Calibri"/>
              </a:rPr>
              <a:t>Explainability  –  </a:t>
            </a: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Where applicable, automated risk flags can include SHAP-based reason codes (e.g., high utilization or repeated missed payments) so that model-driven actions can be explained in plain language.</a:t>
            </a:r>
            <a:endParaRPr/>
          </a:p>
        </p:txBody>
      </p:sp>
      <p:sp>
        <p:nvSpPr>
          <p:cNvPr id="114" name="Google Shape;114;p17"/>
          <p:cNvSpPr/>
          <p:nvPr/>
        </p:nvSpPr>
        <p:spPr>
          <a:xfrm>
            <a:off x="387900" y="2400000"/>
            <a:ext cx="560000" cy="560000"/>
          </a:xfrm>
          <a:prstGeom prst="ellipse">
            <a:avLst/>
          </a:prstGeom>
          <a:solidFill>
            <a:srgbClr val="FFEB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406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5" name="Google Shape;115;p17"/>
          <p:cNvSpPr txBox="1"/>
          <p:nvPr/>
        </p:nvSpPr>
        <p:spPr>
          <a:xfrm>
            <a:off x="1137900" y="2340000"/>
            <a:ext cx="7618200" cy="7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EB38"/>
                </a:solidFill>
                <a:latin typeface="Calibri"/>
                <a:ea typeface="Calibri"/>
                <a:cs typeface="Calibri"/>
                <a:sym typeface="Calibri"/>
              </a:rPr>
              <a:t>Bias monitoring  –  </a:t>
            </a: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Fairness Audit from the Model Plan re-runs on a regular cadence, comparing outcomes across Location, Employment_Status, Age, and Card_Type, with alerts on disparities.</a:t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387900" y="3240000"/>
            <a:ext cx="560000" cy="560000"/>
          </a:xfrm>
          <a:prstGeom prst="ellipse">
            <a:avLst/>
          </a:prstGeom>
          <a:solidFill>
            <a:srgbClr val="FFEB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406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7" name="Google Shape;117;p17"/>
          <p:cNvSpPr txBox="1"/>
          <p:nvPr/>
        </p:nvSpPr>
        <p:spPr>
          <a:xfrm>
            <a:off x="1137900" y="3180000"/>
            <a:ext cx="7618200" cy="7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EB38"/>
                </a:solidFill>
                <a:latin typeface="Calibri"/>
                <a:ea typeface="Calibri"/>
                <a:cs typeface="Calibri"/>
                <a:sym typeface="Calibri"/>
              </a:rPr>
              <a:t>Human-in-the-loop  –  </a:t>
            </a: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Hardship offers, credit-limit changes, and High-risk cases always route to a Collections agent for review – never fully automated.</a:t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387900" y="4080000"/>
            <a:ext cx="560000" cy="560000"/>
          </a:xfrm>
          <a:prstGeom prst="ellipse">
            <a:avLst/>
          </a:prstGeom>
          <a:solidFill>
            <a:srgbClr val="FFEB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406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1137900" y="4020000"/>
            <a:ext cx="7618200" cy="7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EB38"/>
                </a:solidFill>
                <a:latin typeface="Calibri"/>
                <a:ea typeface="Calibri"/>
                <a:cs typeface="Calibri"/>
                <a:sym typeface="Calibri"/>
              </a:rPr>
              <a:t>Compliance &amp; audit trail  –  </a:t>
            </a: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 decision (inputs, model score, action taken) is logged for regulatory review, and customers can appeal or request human review of any outcome.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Expected Business Impact</a:t>
            </a:r>
            <a:endParaRPr/>
          </a:p>
        </p:txBody>
      </p:sp>
      <p:sp>
        <p:nvSpPr>
          <p:cNvPr id="125" name="Google Shape;125;p18"/>
          <p:cNvSpPr/>
          <p:nvPr/>
        </p:nvSpPr>
        <p:spPr>
          <a:xfrm>
            <a:off x="387900" y="1550000"/>
            <a:ext cx="4059100" cy="3150000"/>
          </a:xfrm>
          <a:prstGeom prst="roundRect">
            <a:avLst>
              <a:gd fmla="val 6000" name="adj"/>
            </a:avLst>
          </a:prstGeom>
          <a:solidFill>
            <a:srgbClr val="0051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637900" y="1750000"/>
            <a:ext cx="35591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BC34A"/>
                </a:solidFill>
                <a:latin typeface="Calibri"/>
                <a:ea typeface="Calibri"/>
                <a:cs typeface="Calibri"/>
                <a:sym typeface="Calibri"/>
              </a:rPr>
              <a:t>Business KPIs</a:t>
            </a:r>
            <a:endParaRPr/>
          </a:p>
        </p:txBody>
      </p:sp>
      <p:sp>
        <p:nvSpPr>
          <p:cNvPr id="127" name="Google Shape;127;p18"/>
          <p:cNvSpPr txBox="1"/>
          <p:nvPr/>
        </p:nvSpPr>
        <p:spPr>
          <a:xfrm>
            <a:off x="637900" y="2250000"/>
            <a:ext cx="35592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10–15% relative reduction in 30/60/90-day delinquency (proposed pilot target, subject to validation)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Lower cost-per-collection vs. manual case handling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Higher hardship-plan enrollment before accounts default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Faster time-to-outreach via real-time flagging vs. periodic manual review</a:t>
            </a:r>
            <a:endParaRPr/>
          </a:p>
        </p:txBody>
      </p:sp>
      <p:sp>
        <p:nvSpPr>
          <p:cNvPr id="128" name="Google Shape;128;p18"/>
          <p:cNvSpPr/>
          <p:nvPr/>
        </p:nvSpPr>
        <p:spPr>
          <a:xfrm>
            <a:off x="4697000" y="1550000"/>
            <a:ext cx="4059100" cy="3150000"/>
          </a:xfrm>
          <a:prstGeom prst="roundRect">
            <a:avLst>
              <a:gd fmla="val 6000" name="adj"/>
            </a:avLst>
          </a:prstGeom>
          <a:solidFill>
            <a:srgbClr val="0051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4947000" y="1750000"/>
            <a:ext cx="35591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EB38"/>
                </a:solidFill>
                <a:latin typeface="Calibri"/>
                <a:ea typeface="Calibri"/>
                <a:cs typeface="Calibri"/>
                <a:sym typeface="Calibri"/>
              </a:rPr>
              <a:t>Customer Outcomes</a:t>
            </a:r>
            <a:endParaRPr/>
          </a:p>
        </p:txBody>
      </p:sp>
      <p:sp>
        <p:nvSpPr>
          <p:cNvPr id="130" name="Google Shape;130;p18"/>
          <p:cNvSpPr txBox="1"/>
          <p:nvPr/>
        </p:nvSpPr>
        <p:spPr>
          <a:xfrm>
            <a:off x="4947000" y="2250000"/>
            <a:ext cx="35591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Earlier, supportive contact instead of late-stage collections pressure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Consistent, explainable treatment across customer segments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Clear channel to appeal or request a human review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Scalable support that reaches the full portfolio, not just manually reviewed accounts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